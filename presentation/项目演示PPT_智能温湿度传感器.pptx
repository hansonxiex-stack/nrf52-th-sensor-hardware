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media1.m4a" ContentType="audio/mp4"/>
  <Override PartName="/ppt/media/media10.m4a" ContentType="audio/mp4"/>
  <Override PartName="/ppt/media/media11.m4a" ContentType="audio/mp4"/>
  <Override PartName="/ppt/media/media12.m4a" ContentType="audio/mp4"/>
  <Override PartName="/ppt/media/media13.m4a" ContentType="audio/mp4"/>
  <Override PartName="/ppt/media/media14.m4a" ContentType="audio/mp4"/>
  <Override PartName="/ppt/media/media15.m4a" ContentType="audio/mp4"/>
  <Override PartName="/ppt/media/media16.m4a" ContentType="audio/mp4"/>
  <Override PartName="/ppt/media/media17.m4a" ContentType="audio/mp4"/>
  <Override PartName="/ppt/media/media18.m4a" ContentType="audio/mp4"/>
  <Override PartName="/ppt/media/media19.m4a" ContentType="audio/mp4"/>
  <Override PartName="/ppt/media/media2.m4a" ContentType="audio/mp4"/>
  <Override PartName="/ppt/media/media20.m4a" ContentType="audio/mp4"/>
  <Override PartName="/ppt/media/media21.m4a" ContentType="audio/mp4"/>
  <Override PartName="/ppt/media/media22.m4a" ContentType="audio/mp4"/>
  <Override PartName="/ppt/media/media3.m4a" ContentType="audio/mp4"/>
  <Override PartName="/ppt/media/media4.m4a" ContentType="audio/mp4"/>
  <Override PartName="/ppt/media/media5.m4a" ContentType="audio/mp4"/>
  <Override PartName="/ppt/media/media6.m4a" ContentType="audio/mp4"/>
  <Override PartName="/ppt/media/media7.m4a" ContentType="audio/mp4"/>
  <Override PartName="/ppt/media/media8.m4a" ContentType="audio/mp4"/>
  <Override PartName="/ppt/media/media9.m4a" ContentType="audi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CE9144-367F-426A-88C4-33DFA734319B}" v="1" dt="2026-10-18T07:11:57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e Tiancheng" userId="5b0475d5-abea-45d5-bae2-12e3ba32d0bc" providerId="ADAL" clId="{A7140018-469F-4479-8425-2B0FE8E14B8F}"/>
    <pc:docChg chg="modSld">
      <pc:chgData name="Xie Tiancheng" userId="5b0475d5-abea-45d5-bae2-12e3ba32d0bc" providerId="ADAL" clId="{A7140018-469F-4479-8425-2B0FE8E14B8F}" dt="2026-10-18T07:11:57.389" v="0"/>
      <pc:docMkLst>
        <pc:docMk/>
      </pc:docMkLst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56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56"/>
            <ac:picMk id="11" creationId="{8599C082-A346-B6E9-A6BC-23D5F8798DDE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57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57"/>
            <ac:picMk id="26" creationId="{A9D14AB2-B8DA-5312-2997-0AFF6953D093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58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58"/>
            <ac:picMk id="14" creationId="{B8BC87D2-7BD7-9EC4-1EE2-0194D393C57E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59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59"/>
            <ac:picMk id="14" creationId="{4BE8186C-6D2B-B032-3C0E-5EC797B0F9D1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60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60"/>
            <ac:picMk id="39" creationId="{A6C609D2-9090-9E0F-CEB4-7E85BA496614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61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61"/>
            <ac:picMk id="24" creationId="{D34142CC-836C-5FFB-70AD-0DE346713E5E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62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62"/>
            <ac:picMk id="14" creationId="{D9CB07A4-029F-B662-1F0A-9C095449441D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63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63"/>
            <ac:picMk id="37" creationId="{1030E8E9-8E34-0805-B9B1-439D4421A174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64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64"/>
            <ac:picMk id="20" creationId="{AC503E41-3339-0C53-E9DF-716B12EC8B1F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65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65"/>
            <ac:picMk id="14" creationId="{DBD6BAEE-A79B-F20F-97BD-F0A299D76DCC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66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66"/>
            <ac:picMk id="19" creationId="{A7518F6A-7992-C8D3-9F7C-E9E8717E3AD5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67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67"/>
            <ac:picMk id="17" creationId="{F31E6752-FDF1-AA89-60F6-2D41FC229757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68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68"/>
            <ac:picMk id="23" creationId="{85ABCC9B-C2A5-18B8-3147-5B8D73871FE4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69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69"/>
            <ac:picMk id="15" creationId="{5AFF59CF-B703-C2FD-33E4-B32AD1809D9F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70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70"/>
            <ac:picMk id="24" creationId="{E0FA0026-FC14-4145-4F1C-A6A3A3D70FFE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71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71"/>
            <ac:picMk id="15" creationId="{5491AADB-C41F-6288-1F20-EEA700588F87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72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72"/>
            <ac:picMk id="25" creationId="{1E6F3F5D-293B-082F-FACE-3F22C5569A49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73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73"/>
            <ac:picMk id="13" creationId="{A6AB4061-8084-82D7-F33D-C03246A33147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74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74"/>
            <ac:picMk id="14" creationId="{BEABE173-3D98-FCD2-CA60-F09007AAF17B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75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75"/>
            <ac:picMk id="39" creationId="{1A830531-3FBC-8A7A-49DE-4975F497CDC3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76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76"/>
            <ac:picMk id="23" creationId="{B46EF28D-5F27-3A4C-59A9-B1BA31DD384E}"/>
          </ac:picMkLst>
        </pc:picChg>
      </pc:sldChg>
      <pc:sldChg chg="addSp modSp">
        <pc:chgData name="Xie Tiancheng" userId="5b0475d5-abea-45d5-bae2-12e3ba32d0bc" providerId="ADAL" clId="{A7140018-469F-4479-8425-2B0FE8E14B8F}" dt="2026-10-18T07:11:57.389" v="0"/>
        <pc:sldMkLst>
          <pc:docMk/>
          <pc:sldMk cId="0" sldId="277"/>
        </pc:sldMkLst>
        <pc:picChg chg="add mod">
          <ac:chgData name="Xie Tiancheng" userId="5b0475d5-abea-45d5-bae2-12e3ba32d0bc" providerId="ADAL" clId="{A7140018-469F-4479-8425-2B0FE8E14B8F}" dt="2026-10-18T07:11:57.389" v="0"/>
          <ac:picMkLst>
            <pc:docMk/>
            <pc:sldMk cId="0" sldId="277"/>
            <ac:picMk id="14" creationId="{376CA867-2728-1222-C4ED-B0D927CF9022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228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【10 秒】我是谢天成，八周完成四层 BLE 温湿度传感器的硬件设计与生产文件准备。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【26 秒】项目目标是独立走完一遍从需求到制造文件的硬件设计流程，交付可复现的开源硬件。功能上覆盖温湿度采集、低功耗蓝牙通信和段码液晶显示；工作范围从需求与原理图，到四层板布局布线，再到专项分析与制造文件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【24 秒】这是系统总体方案，分三条路径。数据路径上，SHT40 采集的温湿度经 I²C 交给 nRF52810，主控处理后用同一路 I²C 写入 HT16C21A 驱动段码 LCD，同时通过板载 PCB 天线对外广播。供电上，CR2032 直接给三个模块供电，不经过 LDO。辅助路径是 SWD 三线，入口处放了 U4 做 ESD 保护。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【22 秒】核心器件四块。主控选 nRF52810，把 BLE 和主控集成在一颗芯片里；传感器选 SHT40，功耗低、适合电池供电。显示用 HT16C21A 驱动段码 LCD，能做低功耗常显，而且和传感器共用一路 I²C。供电用 CR2032 直供，省掉 LDO 的压差损失。标准带屏版 BOM 约 28.36 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【18 秒】八周分四个阶段：前两周做需求调研和原理图，中间三周做叠层设计、布局布线并把 DRC 收口，第六到七周做专项分析、整改 DFM 并定稿生产文件，最后一周汇总交付。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【21 秒】原理图分三个功能区。左边是主控最小系统，按参考设计配齐了 VDD 去耦和 DEC 引脚的稳压外围。中间是 I²C 接口：SHT40 和 HT16C21A 地址不冲突，共用主控的 P0.06 和 P0.07，省掉一路总线。右边是 SWD 三线引到 J1，入口放 U4 做 ESD 保护。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【26 秒】板框 48.25 乘 40.05 毫米，四层板。正面放射频天线、主控、晶振和传感器，背面放 LCD 驱动、电池座、按键和 SWD 调试口。分区的原则是：射频链路单独占一角并保持参考地完整，传感器放在板边、远离主控这个热源，两者的间距最后从 20.7 毫米拉到了 25.5 毫米。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【27 秒】叠层采用信号、地、电源、信号的四层结构，总厚约 1.6 毫米。顶层射频馈线以下方地平面为参考，关键走线避免跨越参考平面的开槽和分割区域。布线规则按网络类分别设置：普通信号 0.2 毫米，电源线按载流需要加宽，射频单独建 RF_50R 类，线宽 0.36 毫米。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【25 秒】指定的射频馈线段按叠层参数进行 50 欧阻抗设计：介质厚度 0.2104 毫米，介电常数约 4.4，对应线宽约 0.36 毫米。QFN 引脚出口受焊盘间距限制，局部采用约 0.7 毫米长的短颈缩，其余馈线按目标阻抗布线，并保持顶层连续连接、避免过孔。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【23 秒】晶振和去耦的原则是就近。Y1 的 32 兆主晶振紧靠 XC1、XC2，Y2 的 32.768 千赫兹紧靠 XL1、XL2。负载电容按晶振标称值反推，取 12 皮法。去耦电容结合对应的电源引脚布置，缩短电源连接和接地回路，降低寄生电感对去耦效果的影响。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 秒】综合液晶驱动的供电条件和系统通信需求，总线采用 100 kHz。上拉电阻取 10 kΩ，按约 30 皮法总线电容估算，上升时间约 254 纳秒，满足标准模式 1000 纳秒的要求，同时降低低电平期间的灌电流。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【18 秒】SHT40 布置在板边，与主控中心距离约 25.5 毫米，并在器件下方设置四层禁铜区，减少铜层带来的热传导。第一版只做了顶层，内层和底层仍是满铜，后来扩展到四层。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【27 秒】LCD 和驱动之间 24 根线，三处限制叠在一起。第一，U3 焊盘 0.635 间距，相邻只剩 0.235 毫米缝隙，只能垂直出脚。第二，U3 跨度 8.25 毫米，LCD 每列跨 27.94 毫米，要扇出。第三，U3 右列和 LCD 左列顺序互为镜像，单层不交叉接不通。最后拆两组：10 根走左侧通道，14 根在芯片本体下方打孔换到顶层。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【29 秒】LTspice 中采用 3 伏电压源、电池串联内阻、等效脉冲负载和去耦电容建立模型，扫描 10、30、50 欧三档内阻。主控负载取 10 毫安高裕量工况，观察活动期间的电压跌落和负载结束后的恢复。脉冲持续 10 毫秒，使电源响应充分展开。最低电压约为 2.499 伏，相对 2.4 伏设计下限仍有约 99 毫伏裕量。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【32 秒】前面的仿真采用 10 毫安高裕量负载，这里的电源完整性分析采用 6 毫安正常活动峰值。PCB 本身的压降不到 0.5 毫伏，可以忽略；主要的电压波动来自电池内阻，6 毫安下约 60 到 360 毫伏。系统采用的 2.4 伏下限主要受显示部分约束。结合活动期间的电池内阻压降和预留裕量，将低电量告警阈值设为 2.8 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【28 秒】SWD 入口设置 U4，并与调试接口同层紧邻布置。选型时兼顾保护性能与低功耗要求，重点控制漏电流，并按手册最大值核算；布局上兼顾保护路径和接地回路。可测试性方面，保留 SWD 与必要测试节点，后续按上电检查、通信与显示验证、功耗测量的顺序开展调试。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【25 秒】最后 DRC 是 0 error、0 未连接，34 条 warning 全是封装库差异，已逐项核对，制造文件按板上最终封装生成。例如，LCD 采用通孔焊盘，布局时同时检查正反两面的焊盘间距与装配空间。整改中还修正了 U3 的焊盘角度，消除了相关的 50 条违规。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【30 秒】DFM 一共报了 96 条危险，按封装模型差异、贴装方向和盘中孔工艺逐条分类核对：U1 引脚轮廓 48 条、U3 模型朝向 30 条、U1 散热盘盘中孔 10 条，其余为模型差异。丝印方面，将外框线宽从 0.12 增至 0.16 毫米，距孔和距焊盘的相关告警均清零；盘中孔则在制板说明中明确采用 POFV 工艺。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【27 秒】U3 是这版最需要交代的一处。DFM 报它 20 条无焊盘、8 条相交区域，核对下来主要差异是模型朝向：板上焊盘两排沿 X，模型引脚两列沿 Y。结合焊盘编号、坐标文件和丝印一脚标记逐项核对，CPL 记录 90°，一脚标记指向 pad 1，所以设计不改，随生产文件交一份方向说明。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【17 秒】生产文件包是 10 月 9 日定稿的：Gerber 11 个图层加作业文件、两个钻孔、钢网、31 个位号的坐标文件、23 行的 BOM 和制板说明。四份文件之间做了八项一致性核对，全部通过。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【19 秒】目前完成的是硬件设计、五项专项分析和整套制造文件；后续是打样，首件回来重点查 U1 的 0.4 毫米间距焊接质量、散热盘空洞和 U3 的贴装方向，再做功能、功耗和射频测试。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【29 秒】八周下来有四点收获。一，连对电路只是起点，板子做得出来才算数。二，参数有出处还不够，手册值都带工况前提。三，取值依据可以来自多处：数据手册给边界，项目常用值给范围，同类项目给参照，仿真与计算做校验。四，设计要能被完整交接才算做完。谢谢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4a"/><Relationship Id="rId2" Type="http://schemas.openxmlformats.org/officeDocument/2006/relationships/audio" Target="../media/media1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microsoft.com/office/2007/relationships/media" Target="../media/media2.m4a"/><Relationship Id="rId2" Type="http://schemas.openxmlformats.org/officeDocument/2006/relationships/audio" Target="../media/media2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microsoft.com/office/2007/relationships/media" Target="../media/media3.m4a"/><Relationship Id="rId2" Type="http://schemas.openxmlformats.org/officeDocument/2006/relationships/audio" Target="../media/media3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4.m4a"/><Relationship Id="rId2" Type="http://schemas.openxmlformats.org/officeDocument/2006/relationships/audio" Target="../media/media4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microsoft.com/office/2007/relationships/media" Target="../media/media5.m4a"/><Relationship Id="rId2" Type="http://schemas.openxmlformats.org/officeDocument/2006/relationships/audio" Target="../media/media5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microsoft.com/office/2007/relationships/media" Target="../media/media6.m4a"/><Relationship Id="rId2" Type="http://schemas.openxmlformats.org/officeDocument/2006/relationships/audio" Target="../media/media6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microsoft.com/office/2007/relationships/media" Target="../media/media7.m4a"/><Relationship Id="rId2" Type="http://schemas.openxmlformats.org/officeDocument/2006/relationships/audio" Target="../media/media7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microsoft.com/office/2007/relationships/media" Target="../media/media8.m4a"/><Relationship Id="rId2" Type="http://schemas.openxmlformats.org/officeDocument/2006/relationships/audio" Target="../media/media8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microsoft.com/office/2007/relationships/media" Target="../media/media9.m4a"/><Relationship Id="rId2" Type="http://schemas.openxmlformats.org/officeDocument/2006/relationships/audio" Target="../media/media9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microsoft.com/office/2007/relationships/media" Target="../media/media10.m4a"/><Relationship Id="rId2" Type="http://schemas.openxmlformats.org/officeDocument/2006/relationships/audio" Target="../media/media10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microsoft.com/office/2007/relationships/media" Target="../media/media11.m4a"/><Relationship Id="rId2" Type="http://schemas.openxmlformats.org/officeDocument/2006/relationships/audio" Target="../media/media11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microsoft.com/office/2007/relationships/media" Target="../media/media12.m4a"/><Relationship Id="rId2" Type="http://schemas.openxmlformats.org/officeDocument/2006/relationships/audio" Target="../media/media12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microsoft.com/office/2007/relationships/media" Target="../media/media13.m4a"/><Relationship Id="rId2" Type="http://schemas.openxmlformats.org/officeDocument/2006/relationships/audio" Target="../media/media13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microsoft.com/office/2007/relationships/media" Target="../media/media14.m4a"/><Relationship Id="rId2" Type="http://schemas.openxmlformats.org/officeDocument/2006/relationships/audio" Target="../media/media14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microsoft.com/office/2007/relationships/media" Target="../media/media15.m4a"/><Relationship Id="rId2" Type="http://schemas.openxmlformats.org/officeDocument/2006/relationships/audio" Target="../media/media15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microsoft.com/office/2007/relationships/media" Target="../media/media16.m4a"/><Relationship Id="rId2" Type="http://schemas.openxmlformats.org/officeDocument/2006/relationships/audio" Target="../media/media16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7.png"/><Relationship Id="rId6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microsoft.com/office/2007/relationships/media" Target="../media/media17.m4a"/><Relationship Id="rId2" Type="http://schemas.openxmlformats.org/officeDocument/2006/relationships/audio" Target="../media/media17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8.png"/><Relationship Id="rId6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microsoft.com/office/2007/relationships/media" Target="../media/media18.m4a"/><Relationship Id="rId2" Type="http://schemas.openxmlformats.org/officeDocument/2006/relationships/audio" Target="../media/media18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8.xml"/><Relationship Id="rId5" Type="http://schemas.openxmlformats.org/officeDocument/2006/relationships/image" Target="../media/image19.png"/><Relationship Id="rId6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microsoft.com/office/2007/relationships/media" Target="../media/media19.m4a"/><Relationship Id="rId2" Type="http://schemas.openxmlformats.org/officeDocument/2006/relationships/audio" Target="../media/media19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9.xml"/><Relationship Id="rId5" Type="http://schemas.openxmlformats.org/officeDocument/2006/relationships/image" Target="../media/image20.pn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microsoft.com/office/2007/relationships/media" Target="../media/media20.m4a"/><Relationship Id="rId2" Type="http://schemas.openxmlformats.org/officeDocument/2006/relationships/audio" Target="../media/media20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0.xml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microsoft.com/office/2007/relationships/media" Target="../media/media21.m4a"/><Relationship Id="rId2" Type="http://schemas.openxmlformats.org/officeDocument/2006/relationships/audio" Target="../media/media21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1.xml"/><Relationship Id="rId5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microsoft.com/office/2007/relationships/media" Target="../media/media22.m4a"/><Relationship Id="rId2" Type="http://schemas.openxmlformats.org/officeDocument/2006/relationships/audio" Target="../media/media22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2.xml"/><Relationship Id="rId5" Type="http://schemas.openxmlformats.org/officeDocument/2006/relationships/image" Target="../media/image21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93268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开源智能温湿度传感器 Pro · 硬件设计与生产文件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98448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智能温湿度传感器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2304288"/>
            <a:ext cx="1920240" cy="50292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542032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谢天成　|　2026.08.24 – 2026.10.18（共 8 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557F"/>
                </a:solidFill>
                <a:latin typeface="微软雅黑"/>
                <a:ea typeface="微软雅黑"/>
                <a:cs typeface="微软雅黑"/>
              </a:rPr>
              <a:t>完成四层 BLE 温湿度传感器的硬件设计与生产文件准备</a:t>
            </a:r>
          </a:p>
        </p:txBody>
      </p:sp>
      <p:pic>
        <p:nvPicPr>
          <p:cNvPr id="8" name="Picture 7" descr="board_3d_two_view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333313"/>
            <a:ext cx="10268712" cy="3190605"/>
          </a:xfrm>
          <a:prstGeom prst="rect">
            <a:avLst/>
          </a:prstGeom>
        </p:spPr>
      </p:pic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8599C082-A346-B6E9-A6BC-23D5F8798D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234"/>
    </mc:Choice>
    <mc:Fallback>
      <p:transition spd="slow" advTm="132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01 · 项目概况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项目目标与工作范围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项目目标：独立走完一遍从需求到制造文件的硬件设计流程，交付一套可复现的开源硬件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56816"/>
            <a:ext cx="10874959" cy="10972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2139696"/>
            <a:ext cx="3466490" cy="1298448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139696"/>
            <a:ext cx="50292" cy="12984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2331720"/>
            <a:ext cx="304586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温湿度采集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SHT40 数字传感器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I²C 直读，无需外部调理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602" y="2139696"/>
            <a:ext cx="3466490" cy="1298448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2602" y="2139696"/>
            <a:ext cx="50292" cy="12984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2058" y="2331720"/>
            <a:ext cx="304586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低功耗蓝牙通信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nRF52810 内置 BLE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板载 PCB 天线，2.4 GHz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139696"/>
            <a:ext cx="3466490" cy="1298448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66836" y="2139696"/>
            <a:ext cx="50292" cy="12984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6292" y="2331720"/>
            <a:ext cx="304586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段码液晶显示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HT16C21A + 20×4 段码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低功耗常显，与传感器共用总线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12463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工作范围：需求 → 原理图 → 四层板布局布线 → 专项分析 → 制造文件交付</a:t>
            </a:r>
          </a:p>
        </p:txBody>
      </p:sp>
      <p:pic>
        <p:nvPicPr>
          <p:cNvPr id="20" name="Picture 19" descr="流程图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023360"/>
            <a:ext cx="10874959" cy="1155389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58368" y="5431536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5431536"/>
            <a:ext cx="50292" cy="78638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559552"/>
            <a:ext cx="103263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交付物</a:t>
            </a:r>
            <a:r>
              <a:rPr sz="11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　项目总结报告 · 生产文件包（Gerber / 钻孔 / 钢网 / BOM / CPL / 制板说明）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八份专项分析说明 · 设计变更记录表（48 条） · 第 1~7 周实验报告</a:t>
            </a:r>
          </a:p>
        </p:txBody>
      </p: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A9D14AB2-B8DA-5312-2997-0AFF6953D0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376"/>
    </mc:Choice>
    <mc:Fallback>
      <p:transition spd="slow" advTm="303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02 · 系统方案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系统总体方案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557784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6FB3"/>
              </a:buClr>
              <a:buFont typeface="Arial"/>
              <a:buChar char="▪"/>
            </a:pPr>
            <a:r>
              <a:rPr sz="15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数据路径</a:t>
            </a:r>
          </a:p>
          <a:p>
            <a:pPr marL="18288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SHT40 测得温湿度，经 I²C 交给 nRF52810；主控处理后用同一路 I²C 写入 HT16C21A，由它驱动 20×4 段码 LCD；同时经 BLE 从板载 PCB 天线对外广播。</a:t>
            </a:r>
          </a:p>
          <a:p>
            <a:pPr marL="182880" indent="-182880" algn="l">
              <a:lnSpc>
                <a:spcPct val="100000"/>
              </a:lnSpc>
              <a:spcBef>
                <a:spcPts val="2200"/>
              </a:spcBef>
              <a:spcAft>
                <a:spcPts val="500"/>
              </a:spcAft>
              <a:buClr>
                <a:srgbClr val="2F6FB3"/>
              </a:buClr>
              <a:buFont typeface="Arial"/>
              <a:buChar char="▪"/>
            </a:pPr>
            <a:r>
              <a:rPr sz="15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供电路径</a:t>
            </a:r>
          </a:p>
          <a:p>
            <a:pPr marL="18288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CR2032（标称 3.0 V）直接给三个模块供电，不经过 LDO。</a:t>
            </a:r>
          </a:p>
          <a:p>
            <a:pPr marL="182880" indent="-182880" algn="l">
              <a:lnSpc>
                <a:spcPct val="100000"/>
              </a:lnSpc>
              <a:spcBef>
                <a:spcPts val="2200"/>
              </a:spcBef>
              <a:spcAft>
                <a:spcPts val="500"/>
              </a:spcAft>
              <a:buClr>
                <a:srgbClr val="2F6FB3"/>
              </a:buClr>
              <a:buFont typeface="Arial"/>
              <a:buChar char="▪"/>
            </a:pPr>
            <a:r>
              <a:rPr sz="15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辅助路径</a:t>
            </a:r>
          </a:p>
          <a:p>
            <a:pPr marL="18288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SWD 三线（SWDIO / SWDCLK / nRESET）引到 J1 调试座，入口并联 U4（TT0554TLX）做 ESD 保护；SW1 按键与 D1 状态灯提供本地交互指示。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956048"/>
            <a:ext cx="5577840" cy="896112"/>
          </a:xfrm>
          <a:prstGeom prst="roundRect">
            <a:avLst>
              <a:gd name="adj" fmla="val 10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4956048"/>
            <a:ext cx="50292" cy="896112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5102352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三条路径相互独立：测量周期、显示刷新周期与广播间隔可分别设置。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本项目未开发固件，以上为硬件侧的预期工作方式。</a:t>
            </a:r>
          </a:p>
        </p:txBody>
      </p:sp>
      <p:pic>
        <p:nvPicPr>
          <p:cNvPr id="12" name="Picture 11" descr="系统框图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01" y="1572768"/>
            <a:ext cx="4062771" cy="4617720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B8BC87D2-7BD7-9EC4-1EE2-0194D393C5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830"/>
    </mc:Choice>
    <mc:Fallback>
      <p:transition spd="slow" advTm="448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02 · 系统方案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核心器件与方案选择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4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645920"/>
          <a:ext cx="10874958" cy="27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1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marL="118872" marR="118872" marT="27432" marB="27432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最终方案</a:t>
                      </a:r>
                    </a:p>
                  </a:txBody>
                  <a:tcPr marL="118872" marR="118872" marT="27432" marB="27432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主要选择依据</a:t>
                      </a:r>
                    </a:p>
                  </a:txBody>
                  <a:tcPr marL="118872" marR="118872" marT="27432" marB="27432" anchor="ctr">
                    <a:solidFill>
                      <a:srgbClr val="2F6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主控 / 蓝牙</a:t>
                      </a:r>
                    </a:p>
                  </a:txBody>
                  <a:tcPr marL="118872" marR="11887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2F6F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nRF52810</a:t>
                      </a:r>
                    </a:p>
                  </a:txBody>
                  <a:tcPr marL="118872" marR="11887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集成 BLE 与主控功能，满足采集、显示控制及无线通信需求</a:t>
                      </a:r>
                    </a:p>
                  </a:txBody>
                  <a:tcPr marL="118872" marR="11887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温湿度采集</a:t>
                      </a:r>
                    </a:p>
                  </a:txBody>
                  <a:tcPr marL="118872" marR="118872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2F6F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SHT40</a:t>
                      </a:r>
                    </a:p>
                  </a:txBody>
                  <a:tcPr marL="118872" marR="118872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数字 I²C 接口、低功耗，适合电池供电的温湿度监测</a:t>
                      </a:r>
                    </a:p>
                  </a:txBody>
                  <a:tcPr marL="118872" marR="118872" marT="27432" marB="27432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显示</a:t>
                      </a:r>
                    </a:p>
                  </a:txBody>
                  <a:tcPr marL="118872" marR="11887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2F6F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HT16C21A + 段码 LCD</a:t>
                      </a:r>
                    </a:p>
                  </a:txBody>
                  <a:tcPr marL="118872" marR="11887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适合低功耗常显，与传感器共用 I²C 总线，简化接口连接</a:t>
                      </a:r>
                    </a:p>
                  </a:txBody>
                  <a:tcPr marL="118872" marR="11887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供电</a:t>
                      </a:r>
                    </a:p>
                  </a:txBody>
                  <a:tcPr marL="118872" marR="118872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2F6F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CR2032 直供</a:t>
                      </a:r>
                    </a:p>
                  </a:txBody>
                  <a:tcPr marL="118872" marR="118872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省去外部 LDO，减少压差损失和额外静态功耗</a:t>
                      </a:r>
                    </a:p>
                  </a:txBody>
                  <a:tcPr marL="118872" marR="118872" marT="27432" marB="27432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4718304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4718304"/>
            <a:ext cx="50292" cy="82296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4864608"/>
            <a:ext cx="103263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标准带屏版 BOM ≈ </a:t>
            </a:r>
            <a:r>
              <a:rPr sz="15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¥28.36</a:t>
            </a:r>
            <a:r>
              <a:rPr sz="11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　（主控 ¥13.71 + 传感器 ¥6.95 = ¥20.66，两颗占约七成）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方案分级：极简广播版 / 标准带屏版 / 高精度 Pro 版，本项目为标准带屏版，成本口径已评审确认。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说明：完整 BOM 共 23 行 / 31 个贴装位号，基础库 9 项、扩展库 14 项，详见《BOM 清单与工艺说明》。</a:t>
            </a:r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4BE8186C-6D2B-B032-3C0E-5EC797B0F9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257"/>
    </mc:Choice>
    <mc:Fallback>
      <p:transition spd="slow" advTm="422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01 · 项目概况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项目实施过程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5 / 22</a:t>
            </a:r>
          </a:p>
        </p:txBody>
      </p:sp>
      <p:sp>
        <p:nvSpPr>
          <p:cNvPr id="8" name="Chevron 7"/>
          <p:cNvSpPr/>
          <p:nvPr/>
        </p:nvSpPr>
        <p:spPr>
          <a:xfrm>
            <a:off x="658368" y="1627632"/>
            <a:ext cx="2788920" cy="420624"/>
          </a:xfrm>
          <a:prstGeom prst="chevron">
            <a:avLst/>
          </a:prstGeom>
          <a:solidFill>
            <a:srgbClr val="14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阶段一 · 第 1–2 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1284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08.24 – 09.06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23744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需求与原理图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" y="2907792"/>
            <a:ext cx="2386584" cy="10972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035808"/>
            <a:ext cx="2514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D5DEE8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竞品调研、器件选型、KiCad 入门</a:t>
            </a:r>
          </a:p>
          <a:p>
            <a:pPr marL="182880" indent="-18288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D5DEE8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系统框图 → 原理图 → ERC → 仿真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224528"/>
            <a:ext cx="2679191" cy="56692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4334256"/>
            <a:ext cx="24048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里程碑：原理图通过 ERC</a:t>
            </a:r>
          </a:p>
        </p:txBody>
      </p:sp>
      <p:sp>
        <p:nvSpPr>
          <p:cNvPr id="15" name="Chevron 14"/>
          <p:cNvSpPr/>
          <p:nvPr/>
        </p:nvSpPr>
        <p:spPr>
          <a:xfrm>
            <a:off x="3353714" y="1627632"/>
            <a:ext cx="2788920" cy="420624"/>
          </a:xfrm>
          <a:prstGeom prst="chevron">
            <a:avLst/>
          </a:prstGeom>
          <a:solidFill>
            <a:srgbClr val="245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阶段二 · 第 3–5 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4882" y="221284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09.07 – 09.27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4882" y="2523744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叠层与布局布线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4882" y="2907792"/>
            <a:ext cx="2386584" cy="10972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54882" y="3035808"/>
            <a:ext cx="2514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D5DEE8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四层叠层、50 Ω 阻抗计算、规则落地</a:t>
            </a:r>
          </a:p>
          <a:p>
            <a:pPr marL="182880" indent="-18288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D5DEE8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器件布局与天线 / LCD / I²C 布线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8578" y="4224528"/>
            <a:ext cx="2679191" cy="56692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54882" y="4334256"/>
            <a:ext cx="24048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里程碑：未连接 56 → 0</a:t>
            </a:r>
          </a:p>
        </p:txBody>
      </p:sp>
      <p:sp>
        <p:nvSpPr>
          <p:cNvPr id="22" name="Chevron 21"/>
          <p:cNvSpPr/>
          <p:nvPr/>
        </p:nvSpPr>
        <p:spPr>
          <a:xfrm>
            <a:off x="6049060" y="1627632"/>
            <a:ext cx="2788920" cy="420624"/>
          </a:xfrm>
          <a:prstGeom prst="chevron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阶段三 · 第 6–7 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0228" y="221284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09.28 – 10.11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0228" y="2523744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分析与制造准备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0228" y="2907792"/>
            <a:ext cx="2386584" cy="10972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50228" y="3035808"/>
            <a:ext cx="2514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D5DEE8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全部布线完成；SI / PI / 热 / DFT 分析</a:t>
            </a:r>
          </a:p>
          <a:p>
            <a:pPr marL="182880" indent="-18288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D5DEE8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DFM 全量提交与整改、生产文件定稿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03924" y="4224528"/>
            <a:ext cx="2679191" cy="56692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50228" y="4334256"/>
            <a:ext cx="24048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里程碑：DRC 0 error + 生产文件包</a:t>
            </a:r>
          </a:p>
        </p:txBody>
      </p:sp>
      <p:sp>
        <p:nvSpPr>
          <p:cNvPr id="29" name="Chevron 28"/>
          <p:cNvSpPr/>
          <p:nvPr/>
        </p:nvSpPr>
        <p:spPr>
          <a:xfrm>
            <a:off x="8744407" y="1627632"/>
            <a:ext cx="2788920" cy="420624"/>
          </a:xfrm>
          <a:prstGeom prst="chevron">
            <a:avLst/>
          </a:prstGeom>
          <a:solidFill>
            <a:srgbClr val="5B9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阶段四 · 第 8 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5575" y="221284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10.12 – 10.18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45575" y="2523744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汇报与交付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45575" y="2907792"/>
            <a:ext cx="2386584" cy="10972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45575" y="3035808"/>
            <a:ext cx="2514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D5DEE8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总结报告、答辩 PPT、演示视频</a:t>
            </a:r>
          </a:p>
          <a:p>
            <a:pPr marL="182880" indent="-18288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D5DEE8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GitHub 开源仓库整理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99271" y="4224528"/>
            <a:ext cx="2679191" cy="56692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45575" y="4334256"/>
            <a:ext cx="24048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里程碑：总结报告完成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138928"/>
            <a:ext cx="10874959" cy="10972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" y="5321808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阶段划分依据</a:t>
            </a:r>
            <a:r>
              <a:rPr sz="12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　前两周围绕需求与原理图；第 3–5 周完成叠层、布局布线并收口 DRC；第 6–7 周做专项分析、落实 ESD 防护并完成 DFM 整改与生产文件定稿；第 8 周汇总交付。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过程记录</a:t>
            </a:r>
            <a:r>
              <a:rPr sz="12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　第 3~7 周的实质性设计变更共 48 条，逐条记录于《设计变更记录表》。</a:t>
            </a:r>
          </a:p>
        </p:txBody>
      </p:sp>
      <p:pic>
        <p:nvPicPr>
          <p:cNvPr id="39" name="Audio 38">
            <a:hlinkClick r:id="" action="ppaction://media"/>
            <a:extLst>
              <a:ext uri="{FF2B5EF4-FFF2-40B4-BE49-F238E27FC236}">
                <a16:creationId xmlns:a16="http://schemas.microsoft.com/office/drawing/2014/main" id="{A6C609D2-9090-9E0F-CEB4-7E85BA4966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888"/>
    </mc:Choice>
    <mc:Fallback>
      <p:transition spd="slow" advTm="268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03 · 电路设计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原理图与接口设计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原理图分三个功能区：主控最小系统、传感与显示接口、调试与交互接口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3454298" cy="402336"/>
          </a:xfrm>
          <a:prstGeom prst="roundRect">
            <a:avLst>
              <a:gd name="adj" fmla="val 2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　主控最小系统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32304"/>
            <a:ext cx="3454298" cy="2231136"/>
          </a:xfrm>
          <a:prstGeom prst="roundRect">
            <a:avLst>
              <a:gd name="adj" fmla="val 45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pic>
        <p:nvPicPr>
          <p:cNvPr id="11" name="Picture 10" descr="最小系统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781264"/>
            <a:ext cx="3271418" cy="1533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4944" y="4791456"/>
            <a:ext cx="3381146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VDD 轨上 6 个电容（C1 2.2 µF + 5 × 100 nF）；DEC1 ~ DEC4 按参考设计各配一颗；芯片内部 DC-DC 外围 L2 10 µH 与 L3 15 nH 串联，C11 为唯一输出电容。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920240"/>
            <a:ext cx="3454298" cy="402336"/>
          </a:xfrm>
          <a:prstGeom prst="roundRect">
            <a:avLst>
              <a:gd name="adj" fmla="val 2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　共用一路 I²C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8698" y="2432304"/>
            <a:ext cx="3454298" cy="2231136"/>
          </a:xfrm>
          <a:prstGeom prst="roundRect">
            <a:avLst>
              <a:gd name="adj" fmla="val 45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pic>
        <p:nvPicPr>
          <p:cNvPr id="15" name="Picture 14" descr="I2C共用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6289" y="2505456"/>
            <a:ext cx="2599116" cy="20848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05274" y="4791456"/>
            <a:ext cx="3381146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SHT40（从机地址 0x44）与 HT16C21A（0x38）不冲突，共用主控 P0.06 / P0.07；R1 / R2 各 10 kΩ 上拉，两条线的供电同取 VDD 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9028" y="1920240"/>
            <a:ext cx="3454298" cy="402336"/>
          </a:xfrm>
          <a:prstGeom prst="roundRect">
            <a:avLst>
              <a:gd name="adj" fmla="val 2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　调试与交互接口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9028" y="2432304"/>
            <a:ext cx="3454298" cy="2231136"/>
          </a:xfrm>
          <a:prstGeom prst="roundRect">
            <a:avLst>
              <a:gd name="adj" fmla="val 45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pic>
        <p:nvPicPr>
          <p:cNvPr id="19" name="Picture 18" descr="SWD，按键和L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468" y="2519028"/>
            <a:ext cx="3271418" cy="205768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15604" y="4791456"/>
            <a:ext cx="3381146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SWD 三线（SWDIO / SWDCLK / nRESET）引到 J1，入口并联 U4 做 ESD 保护；SW1 按键与 D1 + R3 状态灯提供本地交互与指示。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144768"/>
            <a:ext cx="10874959" cy="10972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6199632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ERC 检查中发现 HT16C21A 的 SEG9 与 LCD 符号的 SEG16 ~ SEG19 共 5 个引脚偏移出 50 mil 网格约 0.05 mm，移回网格后通过。</a:t>
            </a:r>
          </a:p>
        </p:txBody>
      </p:sp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D34142CC-836C-5FFB-70AD-0DE346713E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422"/>
    </mc:Choice>
    <mc:Fallback>
      <p:transition spd="slow" advTm="434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04 · PCB 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PCB 总体布局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板框 48.25 × 40.05 mm　|　四层板　|　元件 37 个（正面 28 / 背面 9），其中贴装位号 31 个（正面 24 / 背面 7）</a:t>
            </a:r>
          </a:p>
        </p:txBody>
      </p:sp>
      <p:pic>
        <p:nvPicPr>
          <p:cNvPr id="9" name="Picture 8" descr="PCB正反面标注.png"/>
          <p:cNvPicPr>
            <a:picLocks noChangeAspect="1"/>
          </p:cNvPicPr>
          <p:nvPr/>
        </p:nvPicPr>
        <p:blipFill>
          <a:blip r:embed="rId5"/>
          <a:srcRect t="10000"/>
          <a:stretch>
            <a:fillRect/>
          </a:stretch>
        </p:blipFill>
        <p:spPr>
          <a:xfrm>
            <a:off x="658368" y="1901952"/>
            <a:ext cx="10874959" cy="391399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5504688"/>
            <a:ext cx="10874959" cy="768096"/>
          </a:xfrm>
          <a:prstGeom prst="roundRect">
            <a:avLst>
              <a:gd name="adj" fmla="val 10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5504688"/>
            <a:ext cx="50292" cy="76809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5632704"/>
            <a:ext cx="10326319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分区原则</a:t>
            </a:r>
            <a:r>
              <a:rPr sz="11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　射频与天线、传感器、主控集中于正面，显示驱动、电池座与调试口置于背面；射频链路与传感器尽量远离，SHT40 与主控间距最终由 20.7 mm 增至 25.5 mm。</a:t>
            </a:r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D9CB07A4-029F-B662-1F0A-9C09544944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519"/>
    </mc:Choice>
    <mc:Fallback>
      <p:transition spd="slow" advTm="475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04 · PCB 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四层叠层与布线规则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8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5138928" cy="384048"/>
          </a:xfrm>
          <a:prstGeom prst="rect">
            <a:avLst/>
          </a:prstGeom>
          <a:solidFill>
            <a:srgbClr val="C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700784"/>
            <a:ext cx="318613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F.Cu · 铜箔 1 oz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9935" y="170078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0.035 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53412"/>
            <a:ext cx="5138928" cy="384048"/>
          </a:xfrm>
          <a:prstGeom prst="rect">
            <a:avLst/>
          </a:prstGeom>
          <a:solidFill>
            <a:srgbClr val="DC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153412"/>
            <a:ext cx="318613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Dielectric 1 · 半固化片 7628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9935" y="215341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0.2104 mm · εr 4.4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" y="2121408"/>
            <a:ext cx="5202936" cy="448056"/>
          </a:xfrm>
          <a:prstGeom prst="rect">
            <a:avLst/>
          </a:prstGeom>
          <a:noFill/>
          <a:ln w="19050">
            <a:solidFill>
              <a:srgbClr val="2F6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606040"/>
            <a:ext cx="5138928" cy="384048"/>
          </a:xfrm>
          <a:prstGeom prst="rect">
            <a:avLst/>
          </a:prstGeom>
          <a:solidFill>
            <a:srgbClr val="C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606040"/>
            <a:ext cx="318613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In1.GND · 铜箔 0.5 oz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935" y="260604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0.0152 mm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58668"/>
            <a:ext cx="5138928" cy="384048"/>
          </a:xfrm>
          <a:prstGeom prst="rect">
            <a:avLst/>
          </a:prstGeom>
          <a:solidFill>
            <a:srgbClr val="DC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058668"/>
            <a:ext cx="318613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Dielectric 2 · 芯板 FR4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9935" y="305866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1.065 mm · εr 4.5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511296"/>
            <a:ext cx="5138928" cy="384048"/>
          </a:xfrm>
          <a:prstGeom prst="rect">
            <a:avLst/>
          </a:prstGeom>
          <a:solidFill>
            <a:srgbClr val="C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3511296"/>
            <a:ext cx="318613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In2.PWR · 铜箔 0.5 oz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5" y="351129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0.0152 mm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963924"/>
            <a:ext cx="5138928" cy="384048"/>
          </a:xfrm>
          <a:prstGeom prst="rect">
            <a:avLst/>
          </a:prstGeom>
          <a:solidFill>
            <a:srgbClr val="DC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8" y="3963924"/>
            <a:ext cx="318613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Dielectric 3 · 半固化片 7628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9935" y="396392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0.2104 mm · εr 4.4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416552"/>
            <a:ext cx="5138928" cy="384048"/>
          </a:xfrm>
          <a:prstGeom prst="rect">
            <a:avLst/>
          </a:prstGeom>
          <a:solidFill>
            <a:srgbClr val="C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4416552"/>
            <a:ext cx="318613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B.Cu · 铜箔 1 oz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9935" y="441655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0.035 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924044"/>
            <a:ext cx="513892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叠层合计 1.6062 mm（标称 1.59 mm），与嘉立创标准模板 JLC04161H-7628 一致。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蓝色框内为射频馈线的参考介质层（Top → In1.GND）。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309360" y="1700784"/>
          <a:ext cx="5223967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7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网络类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线宽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铜净距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过孔 盘 / 孔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适用范围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Default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0.20 mm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0.20 mm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0.70 / 0.30 mm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普通信号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PWR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0.20 mm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0.50 mm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0.70 / 0.30 mm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电源网络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RF_50R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0.36 mm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0.20 mm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0.70 / 0.30 mm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6F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/ANT_FEED 射频馈线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309360" y="3712463"/>
            <a:ext cx="522396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规则按网络类分别设置</a:t>
            </a:r>
          </a:p>
          <a:p>
            <a:pPr marL="182880" indent="-182880"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  <a:buClr>
                <a:srgbClr val="2F6FB3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射频网络经网络类绑定（/ANT_FEED → RF_50R），布线时自动按 0.36 mm 约束，无需逐段手改；</a:t>
            </a:r>
          </a:p>
          <a:p>
            <a:pPr marL="182880" indent="-182880"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  <a:buClr>
                <a:srgbClr val="2F6FB3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电源网络 PWR 的铜净距放宽到 0.50 mm，其余沿用 Default；</a:t>
            </a:r>
          </a:p>
          <a:p>
            <a:pPr marL="182880" indent="-182880"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  <a:buClr>
                <a:srgbClr val="2F6FB3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全板 65 个过孔统一为 0.70 mm 盘 / 0.30 mm 孔（环宽 0.20 mm）。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138928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8368" y="5138928"/>
            <a:ext cx="50292" cy="82296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2688" y="5266944"/>
            <a:ext cx="10326319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S-G-P-S 层序</a:t>
            </a:r>
            <a:r>
              <a:rPr sz="11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　顶层射频馈线以下方地平面（In1.GND）为参考，底层 I²C 以电源平面（In2.PWR）为参考；关键走线避免跨越参考平面的开槽与分割区域。</a:t>
            </a:r>
          </a:p>
        </p:txBody>
      </p:sp>
      <p:pic>
        <p:nvPicPr>
          <p:cNvPr id="37" name="Audio 36">
            <a:hlinkClick r:id="" action="ppaction://media"/>
            <a:extLst>
              <a:ext uri="{FF2B5EF4-FFF2-40B4-BE49-F238E27FC236}">
                <a16:creationId xmlns:a16="http://schemas.microsoft.com/office/drawing/2014/main" id="{1030E8E9-8E34-0805-B9B1-439D4421A1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023"/>
    </mc:Choice>
    <mc:Fallback>
      <p:transition spd="slow" advTm="460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04 · PCB 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射频馈线阻抗设计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9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822703" cy="877824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664208"/>
            <a:ext cx="15666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介质厚度 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0.2104 mm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Top → In1.GND 的 7628 半固化片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3952" y="1572768"/>
            <a:ext cx="1822703" cy="877824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91968" y="1664208"/>
            <a:ext cx="15666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介电常数 εr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≈ 4.4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取本叠层声明值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9536" y="1572768"/>
            <a:ext cx="1822703" cy="877824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97551" y="1664208"/>
            <a:ext cx="15666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目标 / 实际阻抗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50 Ω → 49.84 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线宽 W = 14.1 mil</a:t>
            </a:r>
          </a:p>
        </p:txBody>
      </p:sp>
      <p:pic>
        <p:nvPicPr>
          <p:cNvPr id="14" name="Picture 13" descr="嘉立创阻抗计算.png"/>
          <p:cNvPicPr>
            <a:picLocks noChangeAspect="1"/>
          </p:cNvPicPr>
          <p:nvPr/>
        </p:nvPicPr>
        <p:blipFill>
          <a:blip r:embed="rId5"/>
          <a:srcRect t="9700"/>
          <a:stretch>
            <a:fillRect/>
          </a:stretch>
        </p:blipFill>
        <p:spPr>
          <a:xfrm>
            <a:off x="658368" y="2663582"/>
            <a:ext cx="5833872" cy="3121891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pic>
        <p:nvPicPr>
          <p:cNvPr id="15" name="Picture 14" descr="射频走线与颈缩.png"/>
          <p:cNvPicPr>
            <a:picLocks noChangeAspect="1"/>
          </p:cNvPicPr>
          <p:nvPr/>
        </p:nvPicPr>
        <p:blipFill>
          <a:blip r:embed="rId6"/>
          <a:srcRect t="6500"/>
          <a:stretch>
            <a:fillRect/>
          </a:stretch>
        </p:blipFill>
        <p:spPr>
          <a:xfrm>
            <a:off x="6681529" y="1572768"/>
            <a:ext cx="2318901" cy="4480560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9189720" y="1609344"/>
            <a:ext cx="2340864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布线与取舍</a:t>
            </a:r>
          </a:p>
          <a:p>
            <a:pPr marL="182880" indent="-182880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2F6FB3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按叠层反算线宽 0.36 mm，在 KiCad 中建 RF_50R 网络类绑定射频网络；</a:t>
            </a:r>
          </a:p>
          <a:p>
            <a:pPr marL="182880" indent="-182880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2F6FB3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进入 QFN-48 的 ANT 脚受焊盘间距限制，做 0.2 mm 局部颈缩，长约 0.7 mm；</a:t>
            </a:r>
          </a:p>
          <a:p>
            <a:pPr marL="182880" indent="-182880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2F6FB3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其余馈线按目标阻抗连续布线，全程 F.Cu，0 个过孔；</a:t>
            </a:r>
          </a:p>
          <a:p>
            <a:pPr marL="182880" indent="-182880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2F6FB3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50 Ω 约束针对指定馈线段，不含 ANT 引脚、匹配网络与天线之间的全部连接。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961888"/>
            <a:ext cx="10874959" cy="310896"/>
          </a:xfrm>
          <a:prstGeom prst="roundRect">
            <a:avLst>
              <a:gd name="adj" fmla="val 20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5961888"/>
            <a:ext cx="1047262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叠层一变，射频阻抗必须重算 —— 这也是制板说明中要求确认外层到 In1.GND 介质厚度的原因。</a:t>
            </a:r>
          </a:p>
        </p:txBody>
      </p:sp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AC503E41-3339-0C53-E9DF-716B12EC8B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268"/>
    </mc:Choice>
    <mc:Fallback>
      <p:transition spd="slow" advTm="382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04 · PCB 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晶振与去耦布局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10 / 22</a:t>
            </a:r>
          </a:p>
        </p:txBody>
      </p:sp>
      <p:pic>
        <p:nvPicPr>
          <p:cNvPr id="8" name="Picture 7" descr="晶振与负载电容布局标注.png"/>
          <p:cNvPicPr>
            <a:picLocks noChangeAspect="1"/>
          </p:cNvPicPr>
          <p:nvPr/>
        </p:nvPicPr>
        <p:blipFill>
          <a:blip r:embed="rId5"/>
          <a:srcRect t="10500"/>
          <a:stretch>
            <a:fillRect/>
          </a:stretch>
        </p:blipFill>
        <p:spPr>
          <a:xfrm>
            <a:off x="698468" y="1591056"/>
            <a:ext cx="7509318" cy="4480560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522208" y="1591056"/>
            <a:ext cx="3011119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F6FB3"/>
              </a:buClr>
              <a:buFont typeface="Arial"/>
              <a:buChar char="▪"/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晶振就近</a:t>
            </a:r>
          </a:p>
          <a:p>
            <a:pPr marL="18288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Y1 32 MHz 紧靠 XC1 / XC2，Y2 32.768 kHz 紧靠 XL1 / XL2，两对时钟走线各自缩短，避免相互串扰。</a:t>
            </a:r>
          </a:p>
          <a:p>
            <a:pPr marL="182880" indent="-182880" algn="l">
              <a:lnSpc>
                <a:spcPct val="100000"/>
              </a:lnSpc>
              <a:spcBef>
                <a:spcPts val="1300"/>
              </a:spcBef>
              <a:spcAft>
                <a:spcPts val="400"/>
              </a:spcAft>
              <a:buClr>
                <a:srgbClr val="2F6FB3"/>
              </a:buClr>
              <a:buFont typeface="Arial"/>
              <a:buChar char="▪"/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负载电容</a:t>
            </a:r>
          </a:p>
          <a:p>
            <a:pPr marL="18288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C15 / C16 与 C9 / C10 均为 12 pF，按晶振标称负载电容反推取值；二版建议 Y2 改 8 pF。</a:t>
            </a:r>
          </a:p>
          <a:p>
            <a:pPr marL="182880" indent="-182880" algn="l">
              <a:lnSpc>
                <a:spcPct val="100000"/>
              </a:lnSpc>
              <a:spcBef>
                <a:spcPts val="1300"/>
              </a:spcBef>
              <a:spcAft>
                <a:spcPts val="400"/>
              </a:spcAft>
              <a:buClr>
                <a:srgbClr val="2F6FB3"/>
              </a:buClr>
              <a:buFont typeface="Arial"/>
              <a:buChar char="▪"/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去耦布置</a:t>
            </a:r>
          </a:p>
          <a:p>
            <a:pPr marL="18288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VDD 轨的电容结合各自电源节点分组布置：2.2 µF 承担局部储能，小容量电容靠近对应电源引脚。</a:t>
            </a:r>
          </a:p>
          <a:p>
            <a:pPr marL="182880" indent="-182880" algn="l">
              <a:lnSpc>
                <a:spcPct val="100000"/>
              </a:lnSpc>
              <a:spcBef>
                <a:spcPts val="1300"/>
              </a:spcBef>
              <a:spcAft>
                <a:spcPts val="400"/>
              </a:spcAft>
              <a:buClr>
                <a:srgbClr val="2F6FB3"/>
              </a:buClr>
              <a:buFont typeface="Arial"/>
              <a:buChar char="▪"/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布置原则</a:t>
            </a:r>
          </a:p>
          <a:p>
            <a:pPr marL="18288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去耦电容结合对应电源引脚布置，尽量缩短电源连接与接地回路，降低寄生电感对去耦效果的影响。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669280"/>
            <a:ext cx="10874959" cy="603504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5669280"/>
            <a:ext cx="50292" cy="60350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5779008"/>
            <a:ext cx="1032631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本板平均功耗约 0.1 mW，最热器件结温升约 0.7 ℃ —— 热设计的重点是传感器与板内热源的隔离，而非散热。</a:t>
            </a:r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DBD6BAEE-A79B-F20F-97BD-F0A299D76D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739"/>
    </mc:Choice>
    <mc:Fallback>
      <p:transition spd="slow" advTm="357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05 · 专项设计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I²C 总线参数设计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5138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速率：为什么定 100 kHz 而不是 400 kHz（HT16C21A）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901952"/>
          <a:ext cx="5138928" cy="1517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速率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手册要求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本板判断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400 kHz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VDD ≥ 3.0 V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✗ CR2032 标称仅 3.0 V，接负载即跌破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 kHz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VDD 2.4 ~ 5.5 V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✓ 工作范围 2.4 ~ 3.3 V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3639312"/>
            <a:ext cx="5138928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32000"/>
              </a:lnSpc>
              <a:spcBef>
                <a:spcPts val="0"/>
              </a:spcBef>
              <a:spcAft>
                <a:spcPts val="700"/>
              </a:spcAft>
              <a:buClr>
                <a:srgbClr val="2F6FB3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400 kHz 的 VDD 前提在本板不成立，因此取 100 kHz；</a:t>
            </a:r>
          </a:p>
          <a:p>
            <a:pPr marL="182880" indent="-182880" algn="l">
              <a:lnSpc>
                <a:spcPct val="132000"/>
              </a:lnSpc>
              <a:spcBef>
                <a:spcPts val="0"/>
              </a:spcBef>
              <a:spcAft>
                <a:spcPts val="700"/>
              </a:spcAft>
              <a:buClr>
                <a:srgbClr val="2F6FB3"/>
              </a:buClr>
              <a:buFont typeface="Arial"/>
              <a:buChar char="·"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总线只连接两颗从机，速率需求不高，降速的时间代价可以接受。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1572768"/>
            <a:ext cx="54799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上拉与上升时间核算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3328" y="1901952"/>
            <a:ext cx="5479999" cy="896112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53328" y="1993392"/>
            <a:ext cx="54799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t_r ≈ 0.8473 · R · 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R = 10 kΩ（R1 / R2）　C ≈ 30 pF（总线电容估算）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53328" y="2944368"/>
          <a:ext cx="547999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总线电容 C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上升时间 t_r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手册上限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余量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pF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254 ns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1000 ns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3.9×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 pF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339 ns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1000 ns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2.9×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 pF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424 ns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1000 ns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2.4×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053328" y="4663440"/>
            <a:ext cx="5479999" cy="1417320"/>
          </a:xfrm>
          <a:prstGeom prst="roundRect">
            <a:avLst>
              <a:gd name="adj" fmla="val 7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53328" y="4663440"/>
            <a:ext cx="50292" cy="141732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1072" y="4791456"/>
            <a:ext cx="5004511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三种电容估计下余量都在 2.4 倍以上，</a:t>
            </a:r>
            <a:r>
              <a:rPr sz="11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10 kΩ 保持不变</a:t>
            </a:r>
            <a:r>
              <a:rPr sz="1100" b="0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；相比 4.7 kΩ 还可省下一半灌电流。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灌电流核算以器件手册为准：nRF52810 的保证值为 ≥ 1 mA（PS p188），不是 I²C 总线规范的 3 mA。</a:t>
            </a:r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A7518F6A-7992-C8D3-9F7C-E9E8717E3A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647"/>
    </mc:Choice>
    <mc:Fallback>
      <p:transition spd="slow" advTm="266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05 · 专项设计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传感器布局与热隔离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12 / 22</a:t>
            </a:r>
          </a:p>
        </p:txBody>
      </p:sp>
      <p:pic>
        <p:nvPicPr>
          <p:cNvPr id="8" name="Picture 7" descr="SHT_keepout.png"/>
          <p:cNvPicPr>
            <a:picLocks noChangeAspect="1"/>
          </p:cNvPicPr>
          <p:nvPr/>
        </p:nvPicPr>
        <p:blipFill>
          <a:blip r:embed="rId5"/>
          <a:srcRect l="25500"/>
          <a:stretch>
            <a:fillRect/>
          </a:stretch>
        </p:blipFill>
        <p:spPr>
          <a:xfrm>
            <a:off x="1214444" y="1700784"/>
            <a:ext cx="3112375" cy="2651760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pic>
        <p:nvPicPr>
          <p:cNvPr id="9" name="Picture 8" descr="SHT4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2230" y="1700784"/>
            <a:ext cx="3009747" cy="2651760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4425696"/>
            <a:ext cx="4224528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U2 封装内嵌的四层禁铜区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规则区同时禁止走线、过孔与铺铜填充，作用于 F.Cu / In1 / In2 / B.Cu。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425696"/>
            <a:ext cx="3035808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焊盘与禁铜区的位置关系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禁铜区覆盖器件本体范围，仅保留 4 个引脚焊盘。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64208"/>
            <a:ext cx="3212287" cy="4526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2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手册要求</a:t>
            </a:r>
          </a:p>
          <a:p>
            <a:pPr marL="18288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SHT4x v7.3 §5.3：器件下方除引脚焊盘外不得有铜，且覆盖所有层。</a:t>
            </a:r>
          </a:p>
          <a:p>
            <a:pPr marL="182880" indent="-182880" algn="l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2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第一版的问题</a:t>
            </a:r>
          </a:p>
          <a:p>
            <a:pPr marL="18288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只做了 F.Cu，In1 / In2 / B.Cu 在传感器正下方仍是满铜。</a:t>
            </a:r>
          </a:p>
          <a:p>
            <a:pPr marL="182880" indent="-182880" algn="l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2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判据</a:t>
            </a:r>
          </a:p>
          <a:p>
            <a:pPr marL="18288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铜的导热系数约 385 W/(m·K)，FR4 约 0.3，相差约 1300 倍。</a:t>
            </a:r>
          </a:p>
          <a:p>
            <a:pPr marL="182880" indent="-182880" algn="l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2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处理</a:t>
            </a:r>
          </a:p>
          <a:p>
            <a:pPr marL="18288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禁铜区扩展到四层；不开槽——焊盘净空 0.9 mm 小于内槽最小约 1.0 mm，且感湿孔在顶面。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687568"/>
            <a:ext cx="10874959" cy="566928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5687568"/>
            <a:ext cx="50292" cy="56692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5687568"/>
            <a:ext cx="103263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U2 与 U1 的间距由 20.7 mm 增至 25.5 mm</a:t>
            </a:r>
            <a:r>
              <a:rPr sz="11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　热设计的重点是传感器与板内热源的隔离，而非散热（平均功耗约 0.1 mW，最热器件结温升约 0.7 ℃）。</a:t>
            </a:r>
          </a:p>
        </p:txBody>
      </p: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F31E6752-FDF1-AA89-60F6-2D41FC2297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63"/>
    </mc:Choice>
    <mc:Fallback>
      <p:transition spd="slow" advTm="302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05 · 专项设计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LCD 接口扇出与换层设计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13 / 22</a:t>
            </a:r>
          </a:p>
        </p:txBody>
      </p:sp>
      <p:pic>
        <p:nvPicPr>
          <p:cNvPr id="8" name="Picture 7" descr="U3+LC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707" y="1627632"/>
            <a:ext cx="2755440" cy="4069080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58368" y="576072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蓝色为 B.Cu，红色为 F.Cu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27632"/>
            <a:ext cx="7308799" cy="102412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24528" y="1627632"/>
            <a:ext cx="50292" cy="1024128"/>
          </a:xfrm>
          <a:prstGeom prst="rect">
            <a:avLst/>
          </a:prstGeom>
          <a:solidFill>
            <a:srgbClr val="C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43984" y="1746504"/>
            <a:ext cx="6869887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限制 1｜焊盘之间走不了线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U3 焊盘 1.2 × 0.4 mm @ 0.635 mm 间距，相邻只剩 0.235 mm 缝隙；0.2 mm 走线需 0.6 mm 通道，只能垂直出脚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2743200"/>
            <a:ext cx="7308799" cy="102412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24528" y="2743200"/>
            <a:ext cx="50292" cy="1024128"/>
          </a:xfrm>
          <a:prstGeom prst="rect">
            <a:avLst/>
          </a:prstGeom>
          <a:solidFill>
            <a:srgbClr val="C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43984" y="2862072"/>
            <a:ext cx="6869887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限制 2｜两端跨度差 3.4 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U3 引脚跨度只有 8.25 mm，而 LCD 每列跨 27.94 mm —— 0.635 mm 要扇出到 2.54 mm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3858768"/>
            <a:ext cx="7308799" cy="102412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24528" y="3858768"/>
            <a:ext cx="50292" cy="1024128"/>
          </a:xfrm>
          <a:prstGeom prst="rect">
            <a:avLst/>
          </a:prstGeom>
          <a:solidFill>
            <a:srgbClr val="C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43984" y="3977639"/>
            <a:ext cx="6869887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限制 3｜引脚顺序互为镜像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U3 右列与 LCD 左列顺序相反（SEG8 在 U3 右列最靠上，在 LCD 左列却最靠下），单层无交叉的扇出在拓扑上不可能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4992623"/>
            <a:ext cx="7308799" cy="1243584"/>
          </a:xfrm>
          <a:prstGeom prst="roundRect">
            <a:avLst>
              <a:gd name="adj" fmla="val 7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24528" y="4992623"/>
            <a:ext cx="50292" cy="124358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62272" y="5120639"/>
            <a:ext cx="683331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化解：拆成两组，其中一组换层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10 根</a:t>
            </a: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（U3 左列 → 左侧通道 → LCD 右列）＋ </a:t>
            </a:r>
            <a:r>
              <a:rPr sz="10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14 根</a:t>
            </a: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（U3 右列 → 芯片本体下方换层 → 顶层 → LCD）。利用贴片器件本体下方 B.Cu 无铜，在芯片本体下方布置 12 个换层过孔，外部不可见</a:t>
            </a:r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85ABCC9B-C2A5-18B8-3147-5B8D73871F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260"/>
    </mc:Choice>
    <mc:Fallback>
      <p:transition spd="slow" advTm="432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05 · 专项设计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LTspice 电源仿真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14 / 22</a:t>
            </a:r>
          </a:p>
        </p:txBody>
      </p:sp>
      <p:pic>
        <p:nvPicPr>
          <p:cNvPr id="8" name="Picture 7" descr="ltspice仿真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870207"/>
            <a:ext cx="4983480" cy="3675369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pic>
        <p:nvPicPr>
          <p:cNvPr id="9" name="Picture 8" descr="ltspice波形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5826" y="1627632"/>
            <a:ext cx="5302531" cy="1810512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943600" y="3566160"/>
            <a:ext cx="5586984" cy="2084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F6FB3"/>
              </a:buClr>
              <a:buFont typeface="Arial"/>
              <a:buChar char="▪"/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  <a:p>
            <a:pPr marL="18288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3.0 V 源串联电池内阻 Rb（.step 10 / 30 / 50 Ω），三路脉冲电流源代表主控、传感器与液晶驱动，并联去耦电容组。</a:t>
            </a:r>
          </a:p>
          <a:p>
            <a:pPr marL="182880" indent="-182880" algn="l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  <a:buClr>
                <a:srgbClr val="2F6FB3"/>
              </a:buClr>
              <a:buFont typeface="Arial"/>
              <a:buChar char="▪"/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负载取值</a:t>
            </a:r>
          </a:p>
          <a:p>
            <a:pPr marL="18288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nRF 10 mA（手册发射电流上加较高裕量）、SHT40 0.6 mA（手册最大 0.5 mA 上取 20%）、HT16C21A 18 µA（典型值，恒流）。</a:t>
            </a:r>
          </a:p>
          <a:p>
            <a:pPr marL="182880" indent="-182880" algn="l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  <a:buClr>
                <a:srgbClr val="2F6FB3"/>
              </a:buClr>
              <a:buFont typeface="Arial"/>
              <a:buChar char="▪"/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脉宽依据</a:t>
            </a:r>
          </a:p>
          <a:p>
            <a:pPr marL="18288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t_on = 10 ms —— 覆盖 SHT40 最慢一档 8.3 ms，使电源响应充分展开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724144"/>
            <a:ext cx="10874959" cy="512064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5724144"/>
            <a:ext cx="50292" cy="5120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5724144"/>
            <a:ext cx="1032631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最深一档谷底 2.499 V</a:t>
            </a:r>
            <a:r>
              <a:rPr sz="11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，对 2.4 V 下限余量 99 mV；本仿真只用于压降评估，占空比假设用于平均电流与续航会差 4 ~ 6 倍。</a:t>
            </a:r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5AFF59CF-B703-C2FD-33E4-B32AD1809D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274"/>
    </mc:Choice>
    <mc:Fallback>
      <p:transition spd="slow" advTm="372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05 · 专项设计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电源完整性与低电量阈值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15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609344"/>
          <a:ext cx="10874959" cy="1408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9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压降路径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mA 活动峰值下的压降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PCB 走线与电源平面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0.5 mV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最终设计参数已代入，可忽略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CR2032 内阻（10 ~ 60 Ω）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 ~ 360 mV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 PCB 高两个数量级；PI 分析七种工况下 60 ~ 480 mV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310896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工作范围下限由谁决定 —— 决定告警阈值的位置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4315968"/>
            <a:ext cx="3881119" cy="64008"/>
          </a:xfrm>
          <a:prstGeom prst="rect">
            <a:avLst/>
          </a:prstGeom>
          <a:solidFill>
            <a:srgbClr val="E6A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1319" y="4315968"/>
            <a:ext cx="4851400" cy="64008"/>
          </a:xfrm>
          <a:prstGeom prst="rect">
            <a:avLst/>
          </a:prstGeom>
          <a:solidFill>
            <a:srgbClr val="A9C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87398" y="4215383"/>
            <a:ext cx="25603" cy="265176"/>
          </a:xfrm>
          <a:prstGeom prst="rect">
            <a:avLst/>
          </a:prstGeom>
          <a:solidFill>
            <a:srgbClr val="14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712463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2.4 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工作下限（HT16C21A）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7975" y="4215383"/>
            <a:ext cx="25603" cy="265176"/>
          </a:xfrm>
          <a:prstGeom prst="rect">
            <a:avLst/>
          </a:prstGeom>
          <a:solidFill>
            <a:srgbClr val="14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6377" y="4535424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2.499 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LTspice 谷底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68518" y="4215383"/>
            <a:ext cx="25603" cy="265176"/>
          </a:xfrm>
          <a:prstGeom prst="rect">
            <a:avLst/>
          </a:prstGeom>
          <a:solidFill>
            <a:srgbClr val="14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66919" y="3712463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2.8 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低电量告警阈值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9078" y="4215383"/>
            <a:ext cx="25603" cy="265176"/>
          </a:xfrm>
          <a:prstGeom prst="rect">
            <a:avLst/>
          </a:prstGeom>
          <a:solidFill>
            <a:srgbClr val="14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7480" y="4535424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3.0 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CR2032 标称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19918" y="4215383"/>
            <a:ext cx="25603" cy="265176"/>
          </a:xfrm>
          <a:prstGeom prst="rect">
            <a:avLst/>
          </a:prstGeom>
          <a:solidFill>
            <a:srgbClr val="14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19" y="3712463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3.3 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工作上限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175504"/>
            <a:ext cx="1087495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2.4 ~ 3.3 V 的下限由 HT16C21A 的 VLCD 决定，而不是 nRF52810（可低至 1.7 V）。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系统采用的 2.4 V 下限主要受显示部分约束；结合活动期间的电池内阻压降与预留裕量，将低电量告警阈值设为 2.8 V，在 2.499 V 的仿真谷底之上留出约 300 mV 窗口。电池内阻边界取 60 Ω。</a:t>
            </a:r>
          </a:p>
        </p:txBody>
      </p:sp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E0FA0026-FC14-4145-4F1C-A6A3A3D70F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319"/>
    </mc:Choice>
    <mc:Fallback>
      <p:transition spd="slow" advTm="303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05 · 专项设计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ESD 防护与可测试性设计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16 / 22</a:t>
            </a:r>
          </a:p>
        </p:txBody>
      </p:sp>
      <p:pic>
        <p:nvPicPr>
          <p:cNvPr id="8" name="Picture 7" descr="U4+J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73" y="1645920"/>
            <a:ext cx="2723228" cy="3794760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977639" y="1645920"/>
            <a:ext cx="7555687" cy="370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2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选型第一约束是漏电流</a:t>
            </a:r>
          </a:p>
          <a:p>
            <a:pPr marL="18288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TT0554TLX 手册典型 0.1 µA、最大 1.0 µA；按最大值核算，占整机静态电流（约 20 µA）的 5%。本板器件一律按手册最大值核算。</a:t>
            </a:r>
          </a:p>
          <a:p>
            <a:pPr marL="182880" indent="-182880" algn="l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2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布局：保护前路径最短</a:t>
            </a:r>
          </a:p>
          <a:p>
            <a:pPr marL="18288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U4 与 J1 同层紧邻，四条保护线都以最短路径接入，并就近接地。</a:t>
            </a:r>
          </a:p>
          <a:p>
            <a:pPr marL="182880" indent="-182880" algn="l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2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取舍：不把 U4 转 180°</a:t>
            </a:r>
          </a:p>
          <a:p>
            <a:pPr marL="18288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转过去 VDD 路径更短，但两条 SWD 信号线会变长；优先保信号线。</a:t>
            </a:r>
          </a:p>
          <a:p>
            <a:pPr marL="182880" indent="-182880" algn="l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2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一个易错细节</a:t>
            </a:r>
          </a:p>
          <a:p>
            <a:pPr marL="18288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接入电源平面的过孔必须打在保护器件之后（pin 5 一侧），打在中段会让 ESD 电流先流入平面。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77840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可测试性：保留 J1 调试资源，规划三步测试流程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88736"/>
            <a:ext cx="349087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①  上电 </a:t>
            </a: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空载上电，测 VDD 轨与静态电流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0410" y="5888736"/>
            <a:ext cx="349087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②  通信 </a:t>
            </a: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经 SWD 烧录，验证三线与 I²C 应答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2452" y="5888736"/>
            <a:ext cx="349087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③  功耗 </a:t>
            </a: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分档测量：休眠 / 测量 / 刷新 / 广播</a:t>
            </a:r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5491AADB-C41F-6288-1F20-EEA700588F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786"/>
    </mc:Choice>
    <mc:Fallback>
      <p:transition spd="slow" advTm="337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06 · 验证与制造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DRC 检查与问题整改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17 / 22</a:t>
            </a:r>
          </a:p>
        </p:txBody>
      </p:sp>
      <p:pic>
        <p:nvPicPr>
          <p:cNvPr id="8" name="Picture 7" descr="DR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652331"/>
            <a:ext cx="3611880" cy="3233297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58368" y="497433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KiCad Design Rules Checker · 最终状态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303520"/>
            <a:ext cx="3611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另有 5 项检查已在规则中忽略（missing_courtyard、track_not_centered_on_via 等），忽略理由逐条记录在《DRC 检查说明》§4。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645920"/>
            <a:ext cx="2259482" cy="896112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737360"/>
            <a:ext cx="225948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86346" y="1645920"/>
            <a:ext cx="2259482" cy="896112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86346" y="1737360"/>
            <a:ext cx="225948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未连接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3844" y="1645920"/>
            <a:ext cx="2259482" cy="896112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73844" y="1737360"/>
            <a:ext cx="225948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8894A"/>
                </a:solidFill>
                <a:latin typeface="微软雅黑"/>
                <a:ea typeface="微软雅黑"/>
                <a:cs typeface="微软雅黑"/>
              </a:rPr>
              <a:t>34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633472"/>
            <a:ext cx="703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34 条 warning 全部为 lib_footprint_mismatch —— 丝印整改后每个封装都与库副本不一致，已逐项核对；制造文件按板上最终封装生成。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8848" y="2999232"/>
            <a:ext cx="7034479" cy="1353312"/>
          </a:xfrm>
          <a:prstGeom prst="roundRect">
            <a:avLst>
              <a:gd name="adj" fmla="val 7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98848" y="2999232"/>
            <a:ext cx="50292" cy="1353312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36592" y="3136391"/>
            <a:ext cx="6558991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例一｜布局约束：LCD 焊盘是通孔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LCD1 的 24 个焊盘全部为通孔（PTH），正反两面都有铜。因此任何一面的元件 courtyard 都不能侵入这些焊盘 —— 对应 pth_inside_courtyard 与 courtyards_overlap，最终均为 0。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8848" y="4462272"/>
            <a:ext cx="7034479" cy="1353312"/>
          </a:xfrm>
          <a:prstGeom prst="roundRect">
            <a:avLst>
              <a:gd name="adj" fmla="val 7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98848" y="4462272"/>
            <a:ext cx="50292" cy="1353312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36592" y="4599432"/>
            <a:ext cx="6558991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例二｜实际整改：U3 焊盘局部角度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U3 以 90° 置于 B.Cu。若焊盘沿用库中的 0°，1.2 mm 长边会落在 0.635 mm 节距方向上，相邻焊盘互相重叠，产生 50 条 shorting_items / clearance 违规；改为 270° 后 50 条全部清零。</a:t>
            </a:r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1E6F3F5D-293B-082F-FACE-3F22C5569A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863"/>
    </mc:Choice>
    <mc:Fallback>
      <p:transition spd="slow" advTm="158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06 · 验证与制造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DFM 检查与处理结果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嘉立创 DFM：元件组装（SMT）96 条危险的溯源结果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883664"/>
          <a:ext cx="6583680" cy="2907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条数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性质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 引脚边界轮廓差异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工具侧模型差异（自测偏差 0.0000 ~ 0.0002 mm）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U3 库模型朝向与板上焊盘相差 90°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工具侧模型差异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 散热盘盘中孔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保留现有设计，制板说明注明 POFV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L2 引脚边界轮廓差异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工具侧模型差异（25 ~ 38 µm）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U2 中心盘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工具侧封装差异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同网络铜重叠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允许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按模型差异、贴装方向与盘中孔工艺分类核对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Picture 9" descr="DFM-01-smt-over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4800" y="1645920"/>
            <a:ext cx="2526495" cy="3977639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8368" y="4882896"/>
            <a:ext cx="65836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1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唯一改动过 PCB 图形的一项：丝印</a:t>
            </a:r>
          </a:p>
          <a:p>
            <a:pPr marL="18288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外框线宽 0.12 → 0.16 mm 并重排位号；丝印距孔 46 → 0、距焊盘 63 → 0，线宽 69 条警告全部达标（DFM 检查值 0.1599 ~ 0.1600 mm）。</a:t>
            </a:r>
          </a:p>
          <a:p>
            <a:pPr marL="182880" indent="-182880" algn="l">
              <a:lnSpc>
                <a:spcPct val="100000"/>
              </a:lnSpc>
              <a:spcBef>
                <a:spcPts val="70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1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特殊工艺：盘中孔 POFV</a:t>
            </a:r>
          </a:p>
          <a:p>
            <a:pPr marL="18288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U1 散热盘 9 个 0.30 mm 过孔按「树脂塞孔 + 电镀填平」处理，其余 56 个过孔按标配的「过孔塞油」。</a:t>
            </a: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A6AB4061-8084-82D7-F33D-C03246A331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931"/>
    </mc:Choice>
    <mc:Fallback>
      <p:transition spd="slow" advTm="359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06 · 验证与制造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U3 贴装方向核对案例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19 / 22</a:t>
            </a:r>
          </a:p>
        </p:txBody>
      </p:sp>
      <p:pic>
        <p:nvPicPr>
          <p:cNvPr id="8" name="Picture 7" descr="DFM-02-U3-90deg.png"/>
          <p:cNvPicPr>
            <a:picLocks noChangeAspect="1"/>
          </p:cNvPicPr>
          <p:nvPr/>
        </p:nvPicPr>
        <p:blipFill>
          <a:blip r:embed="rId5"/>
          <a:srcRect r="27800"/>
          <a:stretch>
            <a:fillRect/>
          </a:stretch>
        </p:blipFill>
        <p:spPr>
          <a:xfrm>
            <a:off x="1129157" y="1645920"/>
            <a:ext cx="4864861" cy="4160520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58368" y="5888736"/>
            <a:ext cx="5806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DFM 比对模型叠加在板上焊盘上的实际显示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627632"/>
            <a:ext cx="46936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主要差异是模型朝向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39712" y="1975104"/>
          <a:ext cx="4693615" cy="1408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/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排列方向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两排间距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单脚间距</a:t>
                      </a:r>
                    </a:p>
                  </a:txBody>
                  <a:tcPr marL="82296" marR="82296" marT="18288" marB="18288" anchor="ctr">
                    <a:solidFill>
                      <a:srgbClr val="2F6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0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板上焊盘（Gerber）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两排，沿 X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5.20 mm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0.635 mm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00" b="1">
                          <a:solidFill>
                            <a:srgbClr val="1439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DFM 模型引脚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两列，沿 Y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5.169 mm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00" b="0">
                          <a:solidFill>
                            <a:srgbClr val="5A6B7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0.635 mm</a:t>
                      </a:r>
                    </a:p>
                  </a:txBody>
                  <a:tcPr marL="82296" marR="82296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39712" y="3529584"/>
            <a:ext cx="4693615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1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核对内容</a:t>
            </a:r>
          </a:p>
          <a:p>
            <a:pPr marL="18288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焊盘编号、封装尺寸、引脚间距、CPL 角度与丝印一脚标记。</a:t>
            </a:r>
          </a:p>
          <a:p>
            <a:pPr marL="182880" indent="-182880" algn="l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1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核对结果</a:t>
            </a:r>
          </a:p>
          <a:p>
            <a:pPr marL="18288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主要差异是模型朝向；两排间距、单脚间距与跨度逐项吻合，CPL 记录 90°，丝印一脚标记指向 pad 1（135.670, −72.600），逐脚接触面积比均为 0.41。</a:t>
            </a:r>
          </a:p>
          <a:p>
            <a:pPr marL="182880" indent="-182880" algn="l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1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处理措施</a:t>
            </a:r>
          </a:p>
          <a:p>
            <a:pPr marL="18288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保留现有设计，不改版、不修改 CPL；随生产文件提供《U3 贴装方向说明》，交由嘉立创贴装审核环节确认。</a:t>
            </a:r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BEABE173-3D98-FCD2-CA60-F09007AAF1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045"/>
    </mc:Choice>
    <mc:Fallback>
      <p:transition spd="slow" advTm="360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06 · 验证与制造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生产文件与交付成果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20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9105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生产文件包（2026-10-09 定稿）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5120640" cy="3931920"/>
          </a:xfrm>
          <a:prstGeom prst="roundRect">
            <a:avLst>
              <a:gd name="adj" fmla="val 55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29968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Gerber_2026-10-09.zip</a:t>
            </a:r>
          </a:p>
          <a:p>
            <a:pPr marL="201168" indent="0"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11 个图层 + .gbrjob（叠层与阻抗声明）</a:t>
            </a:r>
          </a:p>
          <a:p>
            <a:pPr marL="201168" indent="0"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2 个钻孔文件（PTH / NPTH）</a:t>
            </a:r>
          </a:p>
          <a:p>
            <a:pPr marL="201168" indent="0"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钢网（两层贴装，两张）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制板说明.txt（工艺要求与备注）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CPL_SMT .csv　31 个贴装位号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1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BOM_SMT .csv　23 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138928"/>
            <a:ext cx="46634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内部件不上传：</a:t>
            </a: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dfm.zip、web.zip、丝印渲染图等仅作过程记录。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1591056"/>
            <a:ext cx="53885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四份文件之间的一致性核对（8 项，全部通过）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938528"/>
            <a:ext cx="5388559" cy="457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2783" y="1938528"/>
            <a:ext cx="3108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1938528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板框 48.25 × 40.05 mm 与 Gerber 外框一致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395728"/>
            <a:ext cx="538855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2783" y="2395728"/>
            <a:ext cx="3108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2395728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层数 4 层，与 .gbrjob 声明一致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852928"/>
            <a:ext cx="5388559" cy="457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72783" y="2852928"/>
            <a:ext cx="3108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852928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坐标系 X 正 / Y 负，三者可直接对齐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310128"/>
            <a:ext cx="538855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72783" y="3310128"/>
            <a:ext cx="3108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3310128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元件数 37 = CPL 31 + 不贴装 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3767328"/>
            <a:ext cx="5388559" cy="457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72783" y="3767328"/>
            <a:ext cx="3108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767328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贴装面分布：正面 24 / 背面 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4224528"/>
            <a:ext cx="538855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72783" y="4224528"/>
            <a:ext cx="3108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6" y="4224528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孔数 92，与 drill.rpt 一致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4681728"/>
            <a:ext cx="5388559" cy="457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72783" y="4681728"/>
            <a:ext cx="3108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4681728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U3 朝向：CPL 90° 与丝印一脚标记指向同一 pad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5138928"/>
            <a:ext cx="538855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72783" y="5138928"/>
            <a:ext cx="3108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0256" y="5138928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R3 料号 C17520（2.2 kΩ），与工程源一致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5687568"/>
            <a:ext cx="5388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与 DFM 报告的 assembler_total_num = 31（正面 24 / 背面 7）完全一致。</a:t>
            </a:r>
          </a:p>
        </p:txBody>
      </p:sp>
      <p:pic>
        <p:nvPicPr>
          <p:cNvPr id="39" name="Audio 38">
            <a:hlinkClick r:id="" action="ppaction://media"/>
            <a:extLst>
              <a:ext uri="{FF2B5EF4-FFF2-40B4-BE49-F238E27FC236}">
                <a16:creationId xmlns:a16="http://schemas.microsoft.com/office/drawing/2014/main" id="{1A830531-3FBC-8A7A-49DE-4975F497CD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672"/>
    </mc:Choice>
    <mc:Fallback>
      <p:transition spd="slow" advTm="186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07 ·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项目成果与后续计划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325880"/>
            <a:ext cx="1280160" cy="411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74959" cy="9144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76124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　|　谢天成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64556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21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282031" cy="438912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49424"/>
            <a:ext cx="5172303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2E7D32"/>
              </a:buClr>
              <a:buFont typeface="Arial"/>
              <a:buChar char="▪"/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四层板设计：原理图、ERC、叠层、布局布线、DRC 0 error</a:t>
            </a:r>
          </a:p>
          <a:p>
            <a:pPr marL="182880" indent="-18288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2E7D32"/>
              </a:buClr>
              <a:buFont typeface="Arial"/>
              <a:buChar char="▪"/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五项专项分析：SI / PI / 热设计 / DFT / ESD，另加 LTspice 电源仿真</a:t>
            </a:r>
          </a:p>
          <a:p>
            <a:pPr marL="182880" indent="-18288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2E7D32"/>
              </a:buClr>
              <a:buFont typeface="Arial"/>
              <a:buChar char="▪"/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整套制造文件：Gerber、钻孔、钢网、BOM、CPL、制板说明</a:t>
            </a:r>
          </a:p>
          <a:p>
            <a:pPr marL="182880" indent="-18288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2E7D32"/>
              </a:buClr>
              <a:buFont typeface="Arial"/>
              <a:buChar char="▪"/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配套文档：总结报告 + 八份专项说明 + 变更记录表 48 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1295" y="1627632"/>
            <a:ext cx="5282031" cy="438912"/>
          </a:xfrm>
          <a:prstGeom prst="roundRect">
            <a:avLst>
              <a:gd name="adj" fmla="val 20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后续工作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6159" y="2249424"/>
            <a:ext cx="5172303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2F6FB3"/>
              </a:buClr>
              <a:buFont typeface="Arial"/>
              <a:buChar char="▪"/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打样与首件检查：U1 的 0.4 mm 间距焊接质量、U1 散热盘焊点空洞、U3 贴装方向</a:t>
            </a:r>
          </a:p>
          <a:p>
            <a:pPr marL="182880" indent="-18288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2F6FB3"/>
              </a:buClr>
              <a:buFont typeface="Arial"/>
              <a:buChar char="▪"/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功能测试：SHT40 读数、LCD 显示、按键与状态灯</a:t>
            </a:r>
          </a:p>
          <a:p>
            <a:pPr marL="182880" indent="-18288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2F6FB3"/>
              </a:buClr>
              <a:buFont typeface="Arial"/>
              <a:buChar char="▪"/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功耗测试：休眠 / 测量 / 显示刷新 / 广播四档</a:t>
            </a:r>
          </a:p>
          <a:p>
            <a:pPr marL="182880" indent="-182880"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2F6FB3"/>
              </a:buClr>
              <a:buFont typeface="Arial"/>
              <a:buChar char="▪"/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射频测试：天线增益与驻波；不达标则二版改阻抗管控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443984"/>
            <a:ext cx="2595295" cy="932688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590288"/>
            <a:ext cx="2412415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48.25 × 40.05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mm　板框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8255" y="4443984"/>
            <a:ext cx="2595295" cy="932688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09695" y="4590288"/>
            <a:ext cx="2412415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4 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S-G-P-S 叠层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443984"/>
            <a:ext cx="2595295" cy="932688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9583" y="4590288"/>
            <a:ext cx="2412415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31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个贴装位号（元件 37）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8031" y="4443984"/>
            <a:ext cx="2595295" cy="932688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29471" y="4590288"/>
            <a:ext cx="2412415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0 / 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DRC error / 未连接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907024"/>
            <a:ext cx="10874959" cy="475488"/>
          </a:xfrm>
          <a:prstGeom prst="roundRect">
            <a:avLst>
              <a:gd name="adj" fmla="val 14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907024"/>
            <a:ext cx="1036289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设计层面的结论均已闭环；实物层面的结论须待首件到货后验证 —— 本工程未下单，未产生实测数据。</a:t>
            </a:r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B46EF28D-5F27-3A4C-59A9-B1BA31DD38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144"/>
    </mc:Choice>
    <mc:Fallback>
      <p:transition spd="slow" advTm="211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005840"/>
            <a:ext cx="6766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个人收获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35024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从电路到交付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139696"/>
            <a:ext cx="1737360" cy="4572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59152"/>
            <a:ext cx="6949440" cy="3072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从「连对电路」到「板子做得出来」</a:t>
            </a:r>
          </a:p>
          <a:p>
            <a:pPr marL="201168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同一张网表可以对应一块好板，也可以对应一块做不出来的板。</a:t>
            </a:r>
          </a:p>
          <a:p>
            <a:pPr marL="182880" indent="-182880" algn="l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从「参数有出处」到「参数适不适用」</a:t>
            </a:r>
          </a:p>
          <a:p>
            <a:pPr marL="201168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手册值都带工况前提：典型值 ≠ 保证值，活动电流 ≠ 平均电流。</a:t>
            </a:r>
          </a:p>
          <a:p>
            <a:pPr marL="182880" indent="-182880" algn="l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从「取一个值」到「多来源印证」</a:t>
            </a:r>
          </a:p>
          <a:p>
            <a:pPr marL="201168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数据手册给边界，项目常用值给范围，同类项目给参照，仿真与计算做校验。</a:t>
            </a:r>
          </a:p>
          <a:p>
            <a:pPr marL="182880" indent="-182880" algn="l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Clr>
                <a:srgbClr val="2F6FB3"/>
              </a:buClr>
              <a:buFont typeface="Arial"/>
              <a:buChar char="▪"/>
            </a:pPr>
            <a:r>
              <a:rPr sz="1300" b="1">
                <a:solidFill>
                  <a:srgbClr val="14395E"/>
                </a:solidFill>
                <a:latin typeface="微软雅黑"/>
                <a:ea typeface="微软雅黑"/>
                <a:cs typeface="微软雅黑"/>
              </a:rPr>
              <a:t>从「做完设计」到「交付设计」</a:t>
            </a:r>
          </a:p>
          <a:p>
            <a:pPr marL="201168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说明、备注、特殊工艺都写清楚，别人才能接得下去。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700016"/>
            <a:ext cx="6949440" cy="54864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4700016"/>
            <a:ext cx="64556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4557F"/>
                </a:solidFill>
                <a:latin typeface="微软雅黑"/>
                <a:ea typeface="微软雅黑"/>
                <a:cs typeface="微软雅黑"/>
              </a:rPr>
              <a:t>参数经得起追问，设计经得起交接。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760720"/>
            <a:ext cx="6949440" cy="10972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70448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F6FB3"/>
                </a:solidFill>
                <a:latin typeface="微软雅黑"/>
                <a:ea typeface="微软雅黑"/>
                <a:cs typeface="微软雅黑"/>
              </a:rPr>
              <a:t>感谢聆听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谢天成　|　智能温湿度传感器</a:t>
            </a:r>
          </a:p>
        </p:txBody>
      </p:sp>
      <p:pic>
        <p:nvPicPr>
          <p:cNvPr id="11" name="Picture 10" descr="board_top_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027192"/>
            <a:ext cx="3520440" cy="22092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4279392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智能温湿度传感器 · 正面 3D 视图</a:t>
            </a:r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376CA867-2728-1222-C4ED-B0D927CF90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333"/>
    </mc:Choice>
    <mc:Fallback>
      <p:transition spd="slow" advTm="393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3196</Words>
  <Application>Microsoft Office PowerPoint</Application>
  <PresentationFormat>Widescreen</PresentationFormat>
  <Paragraphs>463</Paragraphs>
  <Slides>22</Slides>
  <Notes>22</Notes>
  <HiddenSlides>0</HiddenSlides>
  <MMClips>22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微软雅黑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Xie Tiancheng</cp:lastModifiedBy>
  <cp:revision>1</cp:revision>
  <dcterms:created xsi:type="dcterms:W3CDTF">2013-01-27T09:14:16Z</dcterms:created>
  <dcterms:modified xsi:type="dcterms:W3CDTF">2026-10-18T07:12:06Z</dcterms:modified>
  <cp:category/>
</cp:coreProperties>
</file>